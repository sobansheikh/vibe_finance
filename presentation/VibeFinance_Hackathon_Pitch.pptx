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promise: VibeFinance coordinates evidence and personal risk context so a retail investor can understand why a conclusion was reached.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as orchestration, not data scarcity. Existing tools solve isolated tasks; the missing layer is evidence-aware synthesis that changes with the investor.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The API accepts the analysis immediately, specialists execute in parallel, and the completed result is validated and persisted.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numerical truth comes from validated computation. The LLM is constrained to document interpretation and final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five visible dimensions, the indexed annual report, and its download action. This demo filing contains 265 indexed chunks.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judging proof: three specialized agents, parallel execution, structured contracts, visible sources, and supporting versus opposing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proof banner confirms matching market evidence. Aarav receives MONITOR because concentration is near the limit. Maria has insufficient portfolio data, so the system degrades confidence instead of pretending 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risk agent reads actual holdings and stored limits. Completed sessions reopen without rerunning, preserving recommendation, evidence, agent records, and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degraded Maria result as evidence of graceful handling. Historical momentum accuracy is a diagnostic, not a forecast claim, and Yahoo Finance is a public adapter rather than an exchange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moving directly into the live demo. The six-step route mirrors the mandatory MVP and keeps the demonstration focused on proof rather than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47548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EVIDENCE-FIRST FINANCIAL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50976"/>
            <a:ext cx="466344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800" b="1">
                <a:solidFill>
                  <a:srgbClr val="F6F9F6"/>
                </a:solidFill>
                <a:latin typeface="Aptos"/>
              </a:rPr>
              <a:t>Vibe</a:t>
            </a:r>
            <a:r>
              <a:rPr sz="3800" b="1">
                <a:solidFill>
                  <a:srgbClr val="ACF64E"/>
                </a:solidFill>
                <a:latin typeface="Aptos"/>
              </a:rPr>
              <a:t>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737360"/>
            <a:ext cx="416052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91A699"/>
                </a:solidFill>
                <a:latin typeface="Aptos"/>
              </a:rPr>
              <a:t>Multi-agent decision support that turns live market observations, cited filings, and portfolio context into personalized investor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" y="2971800"/>
            <a:ext cx="1508760" cy="310896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22092"/>
            <a:ext cx="1380743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4EAEFF"/>
                </a:solidFill>
                <a:latin typeface="Aptos Mono"/>
              </a:rPr>
              <a:t>LIVE MARKET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67712" y="2971800"/>
            <a:ext cx="1051560" cy="310896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3022092"/>
            <a:ext cx="923543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30DC91"/>
                </a:solidFill>
                <a:latin typeface="Aptos Mono"/>
              </a:rPr>
              <a:t>CITED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971800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3022092"/>
            <a:ext cx="1197864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ACF64E"/>
                </a:solidFill>
                <a:latin typeface="Aptos Mono"/>
              </a:rPr>
              <a:t>PERSONALIZED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547872"/>
            <a:ext cx="40690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6F9F6"/>
                </a:solidFill>
                <a:latin typeface="Aptos"/>
              </a:rPr>
              <a:t>One workflow. Three specialists. Every decision traceable.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4160520"/>
            <a:ext cx="406908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91A699"/>
                </a:solidFill>
                <a:latin typeface="Aptos"/>
              </a:rPr>
              <a:t>Built for retail investors who need context—not another stream of disconnected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8" y="566928"/>
            <a:ext cx="6419088" cy="5468112"/>
          </a:xfrm>
          <a:prstGeom prst="roundRect">
            <a:avLst>
              <a:gd name="adj" fmla="val 8000"/>
            </a:avLst>
          </a:prstGeom>
          <a:solidFill>
            <a:srgbClr val="070E0A"/>
          </a:solidFill>
          <a:ln w="10160">
            <a:solidFill>
              <a:srgbClr val="4B7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754944"/>
            <a:ext cx="6419088" cy="309207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6F9F6"/>
                </a:solidFill>
                <a:latin typeface="Aptos"/>
              </a:rPr>
              <a:t>Retail investors have data. They lack coordinated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Prices, filings, and portfolio risk live in separate tools—so the burden of synthesis falls on the investor.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3493008" cy="1389888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20391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061972"/>
            <a:ext cx="329184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4EAEFF"/>
                </a:solidFill>
                <a:latin typeface="Apto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6" y="2039112"/>
            <a:ext cx="270662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Market data without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2377439"/>
            <a:ext cx="2688335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Screeners surface momentum and volume, but rarely connect the signal with business fundamentals.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493008" cy="1389888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07992" y="20391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061972"/>
            <a:ext cx="329184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6C135"/>
                </a:solidFill>
                <a:latin typeface="Apto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2039112"/>
            <a:ext cx="270662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Filings without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2377439"/>
            <a:ext cx="2688335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Annual reports are authoritative but dense. Relevant risks are difficult to find at decision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74519"/>
            <a:ext cx="3493008" cy="1389888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20391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61972"/>
            <a:ext cx="329184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039112"/>
            <a:ext cx="270662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Advice without personalization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377439"/>
            <a:ext cx="2688335" cy="7680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The same view is shown to investors with different holdings, horizons, and concentration limits.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703320"/>
            <a:ext cx="10936224" cy="1664208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4B7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05072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DESIGN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70832"/>
            <a:ext cx="9738360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300" b="1">
                <a:solidFill>
                  <a:srgbClr val="F6F9F6"/>
                </a:solidFill>
                <a:latin typeface="Aptos"/>
              </a:rPr>
              <a:t>How can we turn independent evidence into one transparent decision—without letting an LLM invent the numerical truth?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6F9F6"/>
                </a:solidFill>
                <a:latin typeface="Aptos"/>
              </a:rPr>
              <a:t>From raw evidence to a saved, personalized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The interface exposes every stage of the workflow instead of hiding analysis behind a spinner.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1581912" cy="100584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920240"/>
            <a:ext cx="256032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1892807"/>
            <a:ext cx="10058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F6F9F6"/>
                </a:solidFill>
                <a:latin typeface="Aptos"/>
              </a:rPr>
              <a:t>Select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1A699"/>
                </a:solidFill>
                <a:latin typeface="Aptos Mono"/>
              </a:rPr>
              <a:t>Company + investor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12848" y="2286000"/>
            <a:ext cx="237744" cy="0"/>
          </a:xfrm>
          <a:prstGeom prst="line">
            <a:avLst/>
          </a:prstGeom>
          <a:ln w="19050">
            <a:solidFill>
              <a:srgbClr val="30D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78024" y="1783080"/>
            <a:ext cx="1581912" cy="100584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920240"/>
            <a:ext cx="256032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1892807"/>
            <a:ext cx="10058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F6F9F6"/>
                </a:solidFill>
                <a:latin typeface="Aptos"/>
              </a:rPr>
              <a:t>Acquire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04288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1A699"/>
                </a:solidFill>
                <a:latin typeface="Aptos Mono"/>
              </a:rPr>
              <a:t>Market + filings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69080" y="2286000"/>
            <a:ext cx="237744" cy="0"/>
          </a:xfrm>
          <a:prstGeom prst="line">
            <a:avLst/>
          </a:prstGeom>
          <a:ln w="19050">
            <a:solidFill>
              <a:srgbClr val="30D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34255" y="1783080"/>
            <a:ext cx="1581912" cy="100584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7" y="1920240"/>
            <a:ext cx="256032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1892807"/>
            <a:ext cx="10058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F6F9F6"/>
                </a:solidFill>
                <a:latin typeface="Aptos"/>
              </a:rPr>
              <a:t>Run specialists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3" y="2304288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1A699"/>
                </a:solidFill>
                <a:latin typeface="Aptos Mono"/>
              </a:rPr>
              <a:t>Parallel fan-out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25312" y="2286000"/>
            <a:ext cx="237743" cy="0"/>
          </a:xfrm>
          <a:prstGeom prst="line">
            <a:avLst/>
          </a:prstGeom>
          <a:ln w="19050">
            <a:solidFill>
              <a:srgbClr val="30D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90488" y="1783080"/>
            <a:ext cx="1581912" cy="100584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1920240"/>
            <a:ext cx="256032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1892807"/>
            <a:ext cx="10058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F6F9F6"/>
                </a:solidFill>
                <a:latin typeface="Aptos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2304288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1A699"/>
                </a:solidFill>
                <a:latin typeface="Aptos Mono"/>
              </a:rPr>
              <a:t>Citations + conflicts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81544" y="2286000"/>
            <a:ext cx="237744" cy="0"/>
          </a:xfrm>
          <a:prstGeom prst="line">
            <a:avLst/>
          </a:prstGeom>
          <a:ln w="19050">
            <a:solidFill>
              <a:srgbClr val="30D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46719" y="1783080"/>
            <a:ext cx="1581912" cy="100584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1920240"/>
            <a:ext cx="256032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1892807"/>
            <a:ext cx="10058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F6F9F6"/>
                </a:solidFill>
                <a:latin typeface="Aptos"/>
              </a:rPr>
              <a:t>Synthesize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7" y="2304288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1A699"/>
                </a:solidFill>
                <a:latin typeface="Aptos Mono"/>
              </a:rPr>
              <a:t>Personalized result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37776" y="2286000"/>
            <a:ext cx="237743" cy="0"/>
          </a:xfrm>
          <a:prstGeom prst="line">
            <a:avLst/>
          </a:prstGeom>
          <a:ln w="19050">
            <a:solidFill>
              <a:srgbClr val="30D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902951" y="1783080"/>
            <a:ext cx="1581912" cy="100584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21824" y="1920240"/>
            <a:ext cx="256032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23576" y="1892807"/>
            <a:ext cx="10058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F6F9F6"/>
                </a:solidFill>
                <a:latin typeface="Aptos"/>
              </a:rPr>
              <a:t>Persist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304288"/>
            <a:ext cx="123444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91A699"/>
                </a:solidFill>
                <a:latin typeface="Aptos Mono"/>
              </a:rPr>
              <a:t>Metrics + audit trail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3182112"/>
            <a:ext cx="10936224" cy="2578608"/>
          </a:xfrm>
          <a:prstGeom prst="roundRect">
            <a:avLst>
              <a:gd name="adj" fmla="val 8000"/>
            </a:avLst>
          </a:prstGeom>
          <a:solidFill>
            <a:srgbClr val="070E0A"/>
          </a:solidFill>
          <a:ln w="10160">
            <a:solidFill>
              <a:srgbClr val="325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v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337" y="3182112"/>
            <a:ext cx="5353132" cy="257860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32104" y="5257800"/>
            <a:ext cx="3776472" cy="310896"/>
          </a:xfrm>
          <a:prstGeom prst="roundRect">
            <a:avLst>
              <a:gd name="adj" fmla="val 8000"/>
            </a:avLst>
          </a:prstGeom>
          <a:solidFill>
            <a:srgbClr val="050907"/>
          </a:solidFill>
          <a:ln w="10160">
            <a:solidFill>
              <a:srgbClr val="0509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340096"/>
            <a:ext cx="3584448" cy="146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30DC91"/>
                </a:solidFill>
                <a:latin typeface="Aptos Mono"/>
              </a:rPr>
              <a:t>LIVE PROGRESS  •  RESPONSIVE BACKGROUND JOB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6F9F6"/>
                </a:solidFill>
                <a:latin typeface="Aptos"/>
              </a:rPr>
              <a:t>A hybrid system: computation for truth, LLMs for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LangGraph coordinates three typed specialists in parallel, followed by validation, conflict detection, and synthesis.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47088"/>
            <a:ext cx="2651760" cy="2231136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66543"/>
            <a:ext cx="22402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4EAEFF"/>
                </a:solidFill>
                <a:latin typeface="Aptos Mono"/>
              </a:rPr>
              <a:t>PYTHON +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32304"/>
            <a:ext cx="2240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MARKET SIGNAL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21945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91A699"/>
                </a:solidFill>
                <a:latin typeface="Aptos"/>
              </a:rPr>
              <a:t>Momentum
Volume anomaly
Annualized volatility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962656"/>
            <a:ext cx="6327648" cy="0"/>
          </a:xfrm>
          <a:prstGeom prst="line">
            <a:avLst/>
          </a:prstGeom>
          <a:ln w="19050">
            <a:solidFill>
              <a:srgbClr val="4EA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66744" y="1847088"/>
            <a:ext cx="2651760" cy="2231136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2066543"/>
            <a:ext cx="22402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F6C135"/>
                </a:solidFill>
                <a:latin typeface="Aptos Mono"/>
              </a:rPr>
              <a:t>RAG +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2432304"/>
            <a:ext cx="2240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FILING RESEARCH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2971800"/>
            <a:ext cx="21945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91A699"/>
                </a:solidFill>
                <a:latin typeface="Aptos"/>
              </a:rPr>
              <a:t>Query expansion
pgvector retrieval
Evidence-bound interpretation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36792" y="2962656"/>
            <a:ext cx="3282696" cy="0"/>
          </a:xfrm>
          <a:prstGeom prst="line">
            <a:avLst/>
          </a:prstGeom>
          <a:ln w="19050">
            <a:solidFill>
              <a:srgbClr val="F6C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11696" y="1847088"/>
            <a:ext cx="2651760" cy="2231136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4" y="2066543"/>
            <a:ext cx="22402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PORTFOLIO MATHEMATICS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2432304"/>
            <a:ext cx="22402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PORTFOLIO RISK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2971800"/>
            <a:ext cx="21945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91A699"/>
                </a:solidFill>
                <a:latin typeface="Aptos"/>
              </a:rPr>
              <a:t>Position exposure
Sector concentration
Profile limit checks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81744" y="2962656"/>
            <a:ext cx="237744" cy="0"/>
          </a:xfrm>
          <a:prstGeom prst="line">
            <a:avLst/>
          </a:prstGeom>
          <a:ln w="19050">
            <a:solidFill>
              <a:srgbClr val="ACF6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56064" y="1847088"/>
            <a:ext cx="1901952" cy="2231136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4B7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2075688"/>
            <a:ext cx="14630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LLM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496312"/>
            <a:ext cx="146304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F6F9F6"/>
                </a:solidFill>
                <a:latin typeface="Aptos Mono"/>
              </a:rPr>
              <a:t>ONE
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291840"/>
            <a:ext cx="142646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50" b="0">
                <a:solidFill>
                  <a:srgbClr val="91A699"/>
                </a:solidFill>
                <a:latin typeface="Aptos"/>
              </a:rPr>
              <a:t>Validated citations
Explicit conflicts
Confidence ceiling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498848"/>
            <a:ext cx="10936224" cy="987552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27448"/>
            <a:ext cx="233172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6F9F6"/>
                </a:solidFill>
                <a:latin typeface="Aptos"/>
              </a:rPr>
              <a:t>Provider-independent LLM layer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4718304"/>
            <a:ext cx="1417320" cy="310896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7" y="4768596"/>
            <a:ext cx="1289304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30DC91"/>
                </a:solidFill>
                <a:latin typeface="Aptos Mono"/>
              </a:rPr>
              <a:t>CHATANTHROPIC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91456" y="4718304"/>
            <a:ext cx="1261872" cy="310896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5464" y="4768596"/>
            <a:ext cx="1133855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4EAEFF"/>
                </a:solidFill>
                <a:latin typeface="Aptos Mono"/>
              </a:rPr>
              <a:t>CHATOPENAI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754880"/>
            <a:ext cx="4663440" cy="21945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91A699"/>
                </a:solidFill>
                <a:latin typeface="Aptos Mono"/>
              </a:rPr>
              <a:t>temperature 0  •  structured output  •  deterministic fallback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6F9F6"/>
                </a:solidFill>
                <a:latin typeface="Aptos"/>
              </a:rPr>
              <a:t>Five classified dimensions, grounded in live and indexed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The dashboard exposes labels, confidence, rationale, filing status, and the underlying document.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64208"/>
            <a:ext cx="7662672" cy="4315968"/>
          </a:xfrm>
          <a:prstGeom prst="roundRect">
            <a:avLst>
              <a:gd name="adj" fmla="val 8000"/>
            </a:avLst>
          </a:prstGeom>
          <a:solidFill>
            <a:srgbClr val="070E0A"/>
          </a:solidFill>
          <a:ln w="10160">
            <a:solidFill>
              <a:srgbClr val="325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76634"/>
            <a:ext cx="7662672" cy="36911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22208" y="1664208"/>
            <a:ext cx="3035808" cy="118872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05088" y="1874520"/>
            <a:ext cx="91440" cy="768096"/>
          </a:xfrm>
          <a:prstGeom prst="roundRect">
            <a:avLst>
              <a:gd name="adj" fmla="val 8000"/>
            </a:avLst>
          </a:prstGeom>
          <a:solidFill>
            <a:srgbClr val="4EAEFF"/>
          </a:solidFill>
          <a:ln w="10160">
            <a:solidFill>
              <a:srgbClr val="4E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42832" y="1828800"/>
            <a:ext cx="243230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Deterministic market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42832" y="2167128"/>
            <a:ext cx="2414015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30-session momentum, 20-session volume anomaly, and annualized volatility are calculated—not guessed.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22208" y="3035808"/>
            <a:ext cx="3035808" cy="118872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05088" y="3246120"/>
            <a:ext cx="91440" cy="768096"/>
          </a:xfrm>
          <a:prstGeom prst="roundRect">
            <a:avLst>
              <a:gd name="adj" fmla="val 8000"/>
            </a:avLst>
          </a:prstGeom>
          <a:solidFill>
            <a:srgbClr val="F6C135"/>
          </a:solidFill>
          <a:ln w="10160">
            <a:solidFill>
              <a:srgbClr val="F6C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42832" y="3200400"/>
            <a:ext cx="243230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Semantic filing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3538728"/>
            <a:ext cx="2414015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SEC or uploaded filings are chunked, embedded with BGE-small, and searched in Supabase pgvector.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22208" y="4407408"/>
            <a:ext cx="3035808" cy="118872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05088" y="4617720"/>
            <a:ext cx="91440" cy="768096"/>
          </a:xfrm>
          <a:prstGeom prst="roundRect">
            <a:avLst>
              <a:gd name="adj" fmla="val 8000"/>
            </a:avLst>
          </a:prstGeom>
          <a:solidFill>
            <a:srgbClr val="30DC91"/>
          </a:solidFill>
          <a:ln w="10160">
            <a:solidFill>
              <a:srgbClr val="30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4572000"/>
            <a:ext cx="243230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Verifiable 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4910328"/>
            <a:ext cx="2414015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Every filing claim retains the document, page/chunk identity, source URL, and supporting evidence 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MULTI-AGENT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6F9F6"/>
                </a:solidFill>
                <a:latin typeface="Aptos"/>
              </a:rPr>
              <a:t>Parallel specialists produce structured, independently cited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Each agent exposes its own summary, evidence count, confidence, completion state, and latency.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00200"/>
            <a:ext cx="10936224" cy="4480560"/>
          </a:xfrm>
          <a:prstGeom prst="roundRect">
            <a:avLst>
              <a:gd name="adj" fmla="val 8000"/>
            </a:avLst>
          </a:prstGeom>
          <a:solidFill>
            <a:srgbClr val="070E0A"/>
          </a:solidFill>
          <a:ln w="10160">
            <a:solidFill>
              <a:srgbClr val="325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132" y="1600200"/>
            <a:ext cx="9301542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5440680"/>
            <a:ext cx="6784848" cy="365760"/>
          </a:xfrm>
          <a:prstGeom prst="roundRect">
            <a:avLst>
              <a:gd name="adj" fmla="val 8000"/>
            </a:avLst>
          </a:prstGeom>
          <a:solidFill>
            <a:srgbClr val="050907"/>
          </a:solidFill>
          <a:ln w="10160">
            <a:solidFill>
              <a:srgbClr val="0509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541264"/>
            <a:ext cx="6565392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30DC91"/>
                </a:solidFill>
                <a:latin typeface="Aptos Mono"/>
              </a:rPr>
              <a:t>MARKET 558ms  •  FILING 3268ms  •  PORTFOLIO 2037ms  •  10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6F9F6"/>
                </a:solidFill>
                <a:latin typeface="Aptos"/>
              </a:rPr>
              <a:t>Same company evidence. Different investor context. Different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Portfolio state and risk policy affect the decision; market and filing evidence remain company-specific.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00200"/>
            <a:ext cx="7333488" cy="4480560"/>
          </a:xfrm>
          <a:prstGeom prst="roundRect">
            <a:avLst>
              <a:gd name="adj" fmla="val 8000"/>
            </a:avLst>
          </a:prstGeom>
          <a:solidFill>
            <a:srgbClr val="070E0A"/>
          </a:solidFill>
          <a:ln w="10160">
            <a:solidFill>
              <a:srgbClr val="4B7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74206"/>
            <a:ext cx="7333488" cy="35325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11312" y="1600200"/>
            <a:ext cx="3346704" cy="2048256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4B7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865376"/>
            <a:ext cx="265176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CONTROLLED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49056" y="2267712"/>
            <a:ext cx="26517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6F9F6"/>
                </a:solidFill>
                <a:latin typeface="Aptos Mono"/>
              </a:rPr>
              <a:t>MATCHING
MARKET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108960"/>
            <a:ext cx="265176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91A699"/>
                </a:solidFill>
                <a:latin typeface="Aptos"/>
              </a:rPr>
              <a:t>Only investor context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3858768"/>
            <a:ext cx="3346704" cy="2221992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4114800"/>
            <a:ext cx="237744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4EAEFF"/>
                </a:solidFill>
                <a:latin typeface="Aptos Mono"/>
              </a:rPr>
              <a:t>PROFILE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498848"/>
            <a:ext cx="260604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91A699"/>
                </a:solidFill>
                <a:latin typeface="Aptos"/>
              </a:rPr>
              <a:t>Risk tolerance
Investment horizon
Position limits
Sector limits
Recorded holdings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STATE AND AUDITABILITY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400" b="1">
                <a:solidFill>
                  <a:srgbClr val="F6F9F6"/>
                </a:solidFill>
                <a:latin typeface="Aptos"/>
              </a:rPr>
              <a:t>The recommendation is backed by durable investor and decision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Profiles, holdings, watchlists, filings, vectors, sessions, agent runs, and citations persist in Supabase.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627632"/>
            <a:ext cx="5376672" cy="4425696"/>
          </a:xfrm>
          <a:prstGeom prst="roundRect">
            <a:avLst>
              <a:gd name="adj" fmla="val 8000"/>
            </a:avLst>
          </a:prstGeom>
          <a:solidFill>
            <a:srgbClr val="070E0A"/>
          </a:solidFill>
          <a:ln w="10160">
            <a:solidFill>
              <a:srgbClr val="325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45506"/>
            <a:ext cx="5376672" cy="258994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9632" y="1627632"/>
            <a:ext cx="5358384" cy="4425696"/>
          </a:xfrm>
          <a:prstGeom prst="roundRect">
            <a:avLst>
              <a:gd name="adj" fmla="val 8000"/>
            </a:avLst>
          </a:prstGeom>
          <a:solidFill>
            <a:srgbClr val="070E0A"/>
          </a:solidFill>
          <a:ln w="10160">
            <a:solidFill>
              <a:srgbClr val="325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549911"/>
            <a:ext cx="5358384" cy="25811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" y="5440680"/>
            <a:ext cx="2724912" cy="347472"/>
          </a:xfrm>
          <a:prstGeom prst="roundRect">
            <a:avLst>
              <a:gd name="adj" fmla="val 8000"/>
            </a:avLst>
          </a:prstGeom>
          <a:solidFill>
            <a:srgbClr val="050907"/>
          </a:solidFill>
          <a:ln w="10160">
            <a:solidFill>
              <a:srgbClr val="0509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32120"/>
            <a:ext cx="2468880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ACF64E"/>
                </a:solidFill>
                <a:latin typeface="Aptos Mono"/>
              </a:rPr>
              <a:t>PORTFOLIO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9088" y="5440680"/>
            <a:ext cx="3136392" cy="347472"/>
          </a:xfrm>
          <a:prstGeom prst="roundRect">
            <a:avLst>
              <a:gd name="adj" fmla="val 8000"/>
            </a:avLst>
          </a:prstGeom>
          <a:solidFill>
            <a:srgbClr val="050907"/>
          </a:solidFill>
          <a:ln w="10160">
            <a:solidFill>
              <a:srgbClr val="0509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5532120"/>
            <a:ext cx="2852928" cy="1554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4EAEFF"/>
                </a:solidFill>
                <a:latin typeface="Aptos Mono"/>
              </a:rPr>
              <a:t>PERSISTED DECISION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8463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RELIABILITY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881360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6F9F6"/>
                </a:solidFill>
                <a:latin typeface="Aptos"/>
              </a:rPr>
              <a:t>Measured, bounded, and honest about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97864"/>
            <a:ext cx="1078992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91A699"/>
                </a:solidFill>
                <a:latin typeface="Aptos"/>
              </a:rPr>
              <a:t>Every session records performance and evidence metrics; unreliable inputs reduce confidence instead of breaking the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75488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688071"/>
                </a:solidFill>
                <a:latin typeface="Aptos Mono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3736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210312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30DC91"/>
                </a:solidFill>
                <a:latin typeface="Aptos Mono"/>
              </a:rPr>
              <a:t>3.28s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23160"/>
            <a:ext cx="21031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91A699"/>
                </a:solidFill>
                <a:latin typeface="Aptos"/>
              </a:rPr>
              <a:t>Example end-to-end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73736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920240"/>
            <a:ext cx="210312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4EAEFF"/>
                </a:solidFill>
                <a:latin typeface="Aptos Mono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423160"/>
            <a:ext cx="21031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91A699"/>
                </a:solidFill>
                <a:latin typeface="Aptos"/>
              </a:rPr>
              <a:t>Cited evidence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173736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920240"/>
            <a:ext cx="210312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ACF64E"/>
                </a:solidFill>
                <a:latin typeface="Aptos Mono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423160"/>
            <a:ext cx="21031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91A699"/>
                </a:solidFill>
                <a:latin typeface="Aptos"/>
              </a:rPr>
              <a:t>Conflicts in shown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392" y="1737360"/>
            <a:ext cx="2487168" cy="1143000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1920240"/>
            <a:ext cx="210312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F6C135"/>
                </a:solidFill>
                <a:latin typeface="Apto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423160"/>
            <a:ext cx="210312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91A699"/>
                </a:solidFill>
                <a:latin typeface="Aptos"/>
              </a:rPr>
              <a:t>Per-agent latency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246120"/>
            <a:ext cx="5285232" cy="932688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456432"/>
            <a:ext cx="91440" cy="512064"/>
          </a:xfrm>
          <a:prstGeom prst="roundRect">
            <a:avLst>
              <a:gd name="adj" fmla="val 8000"/>
            </a:avLst>
          </a:prstGeom>
          <a:solidFill>
            <a:srgbClr val="F6C135"/>
          </a:solidFill>
          <a:ln w="10160">
            <a:solidFill>
              <a:srgbClr val="F6C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410712"/>
            <a:ext cx="468172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Graceful degradation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" y="3749039"/>
            <a:ext cx="46634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Missing filing, market, or portfolio data returns a degraded result—never fabricated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246120"/>
            <a:ext cx="5285232" cy="932688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64224" y="3456432"/>
            <a:ext cx="91440" cy="512064"/>
          </a:xfrm>
          <a:prstGeom prst="roundRect">
            <a:avLst>
              <a:gd name="adj" fmla="val 8000"/>
            </a:avLst>
          </a:prstGeom>
          <a:solidFill>
            <a:srgbClr val="30DC91"/>
          </a:solidFill>
          <a:ln w="10160">
            <a:solidFill>
              <a:srgbClr val="30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410712"/>
            <a:ext cx="468172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Citation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749039"/>
            <a:ext cx="46634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Unsupported evidence IDs are rejected before synthesis and persistence.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416552"/>
            <a:ext cx="5285232" cy="932688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4626864"/>
            <a:ext cx="91440" cy="512064"/>
          </a:xfrm>
          <a:prstGeom prst="roundRect">
            <a:avLst>
              <a:gd name="adj" fmla="val 8000"/>
            </a:avLst>
          </a:prstGeom>
          <a:solidFill>
            <a:srgbClr val="4EAEFF"/>
          </a:solidFill>
          <a:ln w="10160">
            <a:solidFill>
              <a:srgbClr val="4EA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6" y="4581144"/>
            <a:ext cx="468172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Confidence ceilings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" y="4919472"/>
            <a:ext cx="46634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Missing agents, validation errors, and conflicts constrain final confidence.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4416552"/>
            <a:ext cx="5285232" cy="932688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64224" y="4626864"/>
            <a:ext cx="91440" cy="512064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581144"/>
            <a:ext cx="468172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Transparent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919472"/>
            <a:ext cx="46634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Momentum accuracy, concentration, evidence count, conflicts, and latency are stored.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E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WHY VIBEFINANCE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50976"/>
            <a:ext cx="690372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100" b="1">
                <a:solidFill>
                  <a:srgbClr val="F6F9F6"/>
                </a:solidFill>
                <a:latin typeface="Aptos"/>
              </a:rPr>
              <a:t>Decision support that earns trust through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1737360"/>
            <a:ext cx="5989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91A699"/>
                </a:solidFill>
                <a:latin typeface="Aptos"/>
              </a:rPr>
              <a:t>A production-shaped hackathon MVP with a clear path from individual research to a scalable intelligence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88920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29535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976372"/>
            <a:ext cx="329184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ACF64E"/>
                </a:solidFill>
                <a:latin typeface="Apto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953512"/>
            <a:ext cx="48828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For investors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291839"/>
            <a:ext cx="4864608" cy="182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Personalized context, clear risk boundaries, and cited reasoning.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776472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59" y="3941063"/>
            <a:ext cx="329184" cy="329184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963924"/>
            <a:ext cx="329184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4EAEFF"/>
                </a:solidFill>
                <a:latin typeface="Aptos Mon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941063"/>
            <a:ext cx="48828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For fintechs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279392"/>
            <a:ext cx="4864608" cy="182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Provider-neutral agents and APIs for existing research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64024"/>
            <a:ext cx="5669280" cy="804672"/>
          </a:xfrm>
          <a:prstGeom prst="roundRect">
            <a:avLst>
              <a:gd name="adj" fmla="val 8000"/>
            </a:avLst>
          </a:prstGeom>
          <a:solidFill>
            <a:srgbClr val="0F1B14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59" y="4928616"/>
            <a:ext cx="329184" cy="329184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273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951476"/>
            <a:ext cx="329184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6C135"/>
                </a:solidFill>
                <a:latin typeface="Apto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928616"/>
            <a:ext cx="488289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9F6"/>
                </a:solidFill>
                <a:latin typeface="Aptos"/>
              </a:rPr>
              <a:t>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5266944"/>
            <a:ext cx="4864608" cy="182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91A699"/>
                </a:solidFill>
                <a:latin typeface="Aptos"/>
              </a:rPr>
              <a:t>NSE/SEBI adapters, alerts, backtesting, and durable distributed jobs.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658368"/>
            <a:ext cx="4645152" cy="5468112"/>
          </a:xfrm>
          <a:prstGeom prst="roundRect">
            <a:avLst>
              <a:gd name="adj" fmla="val 8000"/>
            </a:avLst>
          </a:prstGeom>
          <a:solidFill>
            <a:srgbClr val="14241A"/>
          </a:solidFill>
          <a:ln w="10160">
            <a:solidFill>
              <a:srgbClr val="4B7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1005840"/>
            <a:ext cx="18288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ACF64E"/>
                </a:solidFill>
                <a:latin typeface="Aptos Mono"/>
              </a:rPr>
              <a:t>DEMO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1572768"/>
            <a:ext cx="320040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ACF64E"/>
                </a:solidFill>
                <a:latin typeface="Aptos Mono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1554480"/>
            <a:ext cx="33375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F6F9F6"/>
                </a:solidFill>
                <a:latin typeface="Aptos"/>
              </a:rPr>
              <a:t>Inspect indexed filing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1819656"/>
            <a:ext cx="0" cy="265176"/>
          </a:xfrm>
          <a:prstGeom prst="line">
            <a:avLst/>
          </a:prstGeom>
          <a:ln w="12700">
            <a:solidFill>
              <a:srgbClr val="273B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60336" y="2157984"/>
            <a:ext cx="320040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ACF64E"/>
                </a:solidFill>
                <a:latin typeface="Aptos Mono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139696"/>
            <a:ext cx="33375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F6F9F6"/>
                </a:solidFill>
                <a:latin typeface="Aptos"/>
              </a:rPr>
              <a:t>Run intelligence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06640" y="2404872"/>
            <a:ext cx="0" cy="265176"/>
          </a:xfrm>
          <a:prstGeom prst="line">
            <a:avLst/>
          </a:prstGeom>
          <a:ln w="12700">
            <a:solidFill>
              <a:srgbClr val="273B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60336" y="2743200"/>
            <a:ext cx="320040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ACF64E"/>
                </a:solidFill>
                <a:latin typeface="Aptos Mono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2724912"/>
            <a:ext cx="33375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F6F9F6"/>
                </a:solidFill>
                <a:latin typeface="Aptos"/>
              </a:rPr>
              <a:t>Follow parallel agents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06640" y="2990088"/>
            <a:ext cx="0" cy="265176"/>
          </a:xfrm>
          <a:prstGeom prst="line">
            <a:avLst/>
          </a:prstGeom>
          <a:ln w="12700">
            <a:solidFill>
              <a:srgbClr val="273B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260336" y="3328415"/>
            <a:ext cx="320040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ACF64E"/>
                </a:solidFill>
                <a:latin typeface="Aptos Mono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3310127"/>
            <a:ext cx="33375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F6F9F6"/>
                </a:solidFill>
                <a:latin typeface="Aptos"/>
              </a:rPr>
              <a:t>Verify citations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06640" y="3575303"/>
            <a:ext cx="0" cy="265176"/>
          </a:xfrm>
          <a:prstGeom prst="line">
            <a:avLst/>
          </a:prstGeom>
          <a:ln w="12700">
            <a:solidFill>
              <a:srgbClr val="273B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60336" y="3913632"/>
            <a:ext cx="320040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ACF64E"/>
                </a:solidFill>
                <a:latin typeface="Aptos Mono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3895344"/>
            <a:ext cx="33375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1">
                <a:solidFill>
                  <a:srgbClr val="F6F9F6"/>
                </a:solidFill>
                <a:latin typeface="Aptos"/>
              </a:rPr>
              <a:t>Compare investor profiles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406640" y="4160520"/>
            <a:ext cx="0" cy="265176"/>
          </a:xfrm>
          <a:prstGeom prst="line">
            <a:avLst/>
          </a:prstGeom>
          <a:ln w="12700">
            <a:solidFill>
              <a:srgbClr val="273B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260336" y="4498848"/>
            <a:ext cx="320040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50" b="1">
                <a:solidFill>
                  <a:srgbClr val="ACF64E"/>
                </a:solidFill>
                <a:latin typeface="Aptos Mono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4480560"/>
            <a:ext cx="3337560" cy="2468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F6F9F6"/>
                </a:solidFill>
                <a:latin typeface="Aptos"/>
              </a:rPr>
              <a:t>Reopen saved decision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1192" y="5449824"/>
            <a:ext cx="228600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ACF64E"/>
                </a:solidFill>
                <a:latin typeface="Aptos"/>
              </a:rPr>
              <a:t>VibeFinance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5522976"/>
            <a:ext cx="2148840" cy="1828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900" b="0">
                <a:solidFill>
                  <a:srgbClr val="91A699"/>
                </a:solidFill>
                <a:latin typeface="Aptos Mono"/>
              </a:rPr>
              <a:t>Evidence first. Personalized always.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632764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ACF64E"/>
          </a:solidFill>
          <a:ln w="10160">
            <a:solidFill>
              <a:srgbClr val="ACF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336792"/>
            <a:ext cx="25603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50907"/>
                </a:solidFill>
                <a:latin typeface="Aptos"/>
              </a:rPr>
              <a:t>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" y="6359652"/>
            <a:ext cx="128016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91A699"/>
                </a:solidFill>
                <a:latin typeface="Aptos"/>
              </a:rPr>
              <a:t>VibeFinance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373368"/>
            <a:ext cx="2468880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750" b="1">
                <a:solidFill>
                  <a:srgbClr val="688071"/>
                </a:solidFill>
                <a:latin typeface="Aptos Mono"/>
              </a:rPr>
              <a:t>WILD BUGS HACKATHON  • 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83696" y="6355080"/>
            <a:ext cx="310896" cy="1645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ACF64E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VibeFinance — Evidence-first multi-agent financial intelligence</dc:title>
  <dc:subject>Wild Bugs Hackathon pitch deck</dc:subject>
  <dc:creator>VibeFinance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